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5C4A"/>
    <a:srgbClr val="E8A33D"/>
    <a:srgbClr val="ECC17F"/>
    <a:srgbClr val="358B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5C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22960" y="777240"/>
            <a:ext cx="777240" cy="777240"/>
          </a:xfrm>
          <a:prstGeom prst="roundRect">
            <a:avLst>
              <a:gd name="adj" fmla="val 22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768096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700" b="1">
                <a:solidFill>
                  <a:srgbClr val="4A2E02"/>
                </a:solidFill>
                <a:latin typeface="Calibri"/>
              </a:rP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000" b="1">
                <a:solidFill>
                  <a:srgbClr val="FFFFFF"/>
                </a:solidFill>
                <a:latin typeface="Calibri"/>
              </a:rPr>
              <a:t>Swoop</a:t>
            </a:r>
          </a:p>
          <a:p>
            <a:pPr algn="l">
              <a:lnSpc>
                <a:spcPct val="105000"/>
              </a:lnSpc>
            </a:pPr>
            <a:r>
              <a:rPr sz="3000" b="0">
                <a:solidFill>
                  <a:srgbClr val="CFE6DE"/>
                </a:solidFill>
                <a:latin typeface="Calibri"/>
              </a:rPr>
              <a:t>Data-Driven Insights &amp; Optimization</a:t>
            </a:r>
          </a:p>
          <a:p>
            <a:pPr algn="l">
              <a:lnSpc>
                <a:spcPct val="105000"/>
              </a:lnSpc>
            </a:pPr>
            <a:r>
              <a:rPr sz="3000" b="0">
                <a:solidFill>
                  <a:srgbClr val="CFE6DE"/>
                </a:solidFill>
                <a:latin typeface="Calibri"/>
              </a:rPr>
              <a:t>for a Multi-Restaurant Food Delivery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5212080"/>
            <a:ext cx="10058400" cy="57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dirty="0">
                <a:solidFill>
                  <a:srgbClr val="E8A33D"/>
                </a:solidFill>
                <a:latin typeface="Calibri"/>
              </a:rPr>
              <a:t>PostgreSQL  ·  Power BI   |   </a:t>
            </a:r>
            <a:r>
              <a:rPr lang="en-GB" sz="1500" b="1" dirty="0" err="1">
                <a:solidFill>
                  <a:srgbClr val="E8A33D"/>
                </a:solidFill>
                <a:latin typeface="Calibri"/>
              </a:rPr>
              <a:t>Amdari</a:t>
            </a:r>
            <a:r>
              <a:rPr lang="en-GB" sz="1500" b="1">
                <a:solidFill>
                  <a:srgbClr val="E8A33D"/>
                </a:solidFill>
                <a:latin typeface="Calibri"/>
              </a:rPr>
              <a:t> </a:t>
            </a:r>
            <a:r>
              <a:rPr sz="1500" b="1">
                <a:solidFill>
                  <a:srgbClr val="E8A33D"/>
                </a:solidFill>
                <a:latin typeface="Calibri"/>
              </a:rPr>
              <a:t>Data Analytics Project</a:t>
            </a:r>
          </a:p>
          <a:p>
            <a:pPr algn="l">
              <a:lnSpc>
                <a:spcPct val="130000"/>
              </a:lnSpc>
            </a:pPr>
            <a:r>
              <a:rPr sz="1500" b="0" dirty="0">
                <a:solidFill>
                  <a:srgbClr val="FFFFFF"/>
                </a:solidFill>
                <a:latin typeface="Calibri"/>
              </a:rPr>
              <a:t>Esmeralda Pinamang Osei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4572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4805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4A2E02"/>
                </a:solidFill>
                <a:latin typeface="Calibri"/>
              </a:rP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A33D"/>
                </a:solidFill>
                <a:latin typeface="Calibri"/>
              </a:rPr>
              <a:t>COMPANY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13232"/>
            <a:ext cx="10424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0302B"/>
                </a:solidFill>
                <a:latin typeface="Calibri"/>
              </a:rPr>
              <a:t>About Swoop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612648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20302B"/>
                </a:solidFill>
                <a:latin typeface="Calibri"/>
              </a:rPr>
              <a:t>Swoop is a multi-restaurant food delivery platform founded in 2020 to solve a problem no major delivery app had: letting customers order from several restaurants in a single transaction.</a:t>
            </a:r>
          </a:p>
          <a:p>
            <a:pPr algn="l">
              <a:lnSpc>
                <a:spcPct val="112000"/>
              </a:lnSpc>
            </a:pPr>
            <a:endParaRPr sz="1600" b="0">
              <a:solidFill>
                <a:srgbClr val="20302B"/>
              </a:solidFill>
              <a:latin typeface="Calibri"/>
            </a:endParaRPr>
          </a:p>
          <a:p>
            <a:pPr algn="l">
              <a:lnSpc>
                <a:spcPct val="112000"/>
              </a:lnSpc>
            </a:pPr>
            <a:r>
              <a:rPr sz="1600" b="0">
                <a:solidFill>
                  <a:srgbClr val="20302B"/>
                </a:solidFill>
                <a:latin typeface="Calibri"/>
              </a:rPr>
              <a:t>Built around a fleet of electric scooters and a “bulk meal stocking” pre-order feature, Swoop expanded into San Francisco, Los Angeles and New York, partnering with over 1,000 restaurants.</a:t>
            </a:r>
          </a:p>
          <a:p>
            <a:pPr algn="l">
              <a:lnSpc>
                <a:spcPct val="112000"/>
              </a:lnSpc>
            </a:pPr>
            <a:endParaRPr sz="1600" b="0">
              <a:solidFill>
                <a:srgbClr val="20302B"/>
              </a:solidFill>
              <a:latin typeface="Calibri"/>
            </a:endParaRPr>
          </a:p>
          <a:p>
            <a:pPr algn="l">
              <a:lnSpc>
                <a:spcPct val="112000"/>
              </a:lnSpc>
            </a:pPr>
            <a:r>
              <a:rPr sz="1600" b="0">
                <a:solidFill>
                  <a:srgbClr val="20302B"/>
                </a:solidFill>
                <a:latin typeface="Calibri"/>
              </a:rPr>
              <a:t>Despite rapid growth, leadership lacked real-time visibility into revenue, high-value customers and delivery costs — the gap this project closes.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1691640"/>
            <a:ext cx="196596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25512" y="2103120"/>
            <a:ext cx="163677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0E5C4A"/>
                </a:solidFill>
                <a:latin typeface="Calibri"/>
              </a:rPr>
              <a:t>2020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5512" y="2926080"/>
            <a:ext cx="163677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B7A74"/>
                </a:solidFill>
                <a:latin typeface="Calibri"/>
              </a:rPr>
              <a:t>Founded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55480" y="1691640"/>
            <a:ext cx="196596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720072" y="2103120"/>
            <a:ext cx="163677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0E5C4A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20072" y="2926080"/>
            <a:ext cx="163677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B7A74"/>
                </a:solidFill>
                <a:latin typeface="Calibri"/>
              </a:rPr>
              <a:t>Cities (SF · LA · NY)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3840480"/>
            <a:ext cx="196596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25512" y="4251960"/>
            <a:ext cx="163677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0E5C4A"/>
                </a:solidFill>
                <a:latin typeface="Calibri"/>
              </a:rPr>
              <a:t>1,000+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5512" y="5074920"/>
            <a:ext cx="163677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B7A74"/>
                </a:solidFill>
                <a:latin typeface="Calibri"/>
              </a:rPr>
              <a:t>Restaurant partners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55480" y="3840480"/>
            <a:ext cx="196596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720072" y="4251960"/>
            <a:ext cx="163677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0E5C4A"/>
                </a:solidFill>
                <a:latin typeface="Calibri"/>
              </a:rPr>
              <a:t>$2.53M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0072" y="5074920"/>
            <a:ext cx="163677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B7A74"/>
                </a:solidFill>
                <a:latin typeface="Calibri"/>
              </a:rPr>
              <a:t>Revenue,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4572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4805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4A2E02"/>
                </a:solidFill>
                <a:latin typeface="Calibri"/>
              </a:rP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A33D"/>
                </a:solidFill>
                <a:latin typeface="Calibri"/>
              </a:rPr>
              <a:t>PROJECT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13232"/>
            <a:ext cx="10424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0302B"/>
                </a:solidFill>
                <a:latin typeface="Calibri"/>
              </a:rPr>
              <a:t>Objectives Covered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507492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43000" y="2103120"/>
            <a:ext cx="640080" cy="640080"/>
          </a:xfrm>
          <a:prstGeom prst="ellipse">
            <a:avLst/>
          </a:prstGeom>
          <a:solidFill>
            <a:srgbClr val="0E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2093976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2103120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20302B"/>
                </a:solidFill>
                <a:latin typeface="Calibri"/>
              </a:rPr>
              <a:t>Revenue 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624328"/>
            <a:ext cx="3611880" cy="4487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dirty="0">
                <a:solidFill>
                  <a:srgbClr val="6B7A74"/>
                </a:solidFill>
                <a:latin typeface="Calibri"/>
              </a:rPr>
              <a:t>Track revenue by order, meal category and time  and measure profit.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83080"/>
            <a:ext cx="507492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92240" y="2103120"/>
            <a:ext cx="640080" cy="640080"/>
          </a:xfrm>
          <a:prstGeom prst="ellipse">
            <a:avLst/>
          </a:prstGeom>
          <a:solidFill>
            <a:srgbClr val="0E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2093976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103120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20302B"/>
                </a:solidFill>
                <a:latin typeface="Calibri"/>
              </a:rPr>
              <a:t>Customer Segmentation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624328"/>
            <a:ext cx="3611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B7A74"/>
                </a:solidFill>
                <a:latin typeface="Calibri"/>
              </a:rPr>
              <a:t>Find the top 10%, build RFM segments and measure retention.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840480"/>
            <a:ext cx="507492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43000" y="4160520"/>
            <a:ext cx="640080" cy="640080"/>
          </a:xfrm>
          <a:prstGeom prst="ellipse">
            <a:avLst/>
          </a:prstGeom>
          <a:solidFill>
            <a:srgbClr val="0E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3000" y="4151376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4160520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20302B"/>
                </a:solidFill>
                <a:latin typeface="Calibri"/>
              </a:rPr>
              <a:t>Operational Costs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681728"/>
            <a:ext cx="3611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B7A74"/>
                </a:solidFill>
                <a:latin typeface="Calibri"/>
              </a:rPr>
              <a:t>Analyse delivery cost per order and bulk-vs-standard unit economics.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40480"/>
            <a:ext cx="507492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92240" y="4160520"/>
            <a:ext cx="640080" cy="640080"/>
          </a:xfrm>
          <a:prstGeom prst="ellipse">
            <a:avLst/>
          </a:prstGeom>
          <a:solidFill>
            <a:srgbClr val="0E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4151376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4160520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20302B"/>
                </a:solidFill>
                <a:latin typeface="Calibri"/>
              </a:rPr>
              <a:t>Real-Time Reporting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4681728"/>
            <a:ext cx="3611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B7A74"/>
                </a:solidFill>
                <a:latin typeface="Calibri"/>
              </a:rPr>
              <a:t>Consolidate every KPI into one interactive Power BI dashboard.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dirty="0">
                <a:solidFill>
                  <a:srgbClr val="20302B"/>
                </a:solidFill>
                <a:latin typeface="Calibri"/>
              </a:rPr>
              <a:t>Tools:  </a:t>
            </a:r>
            <a:r>
              <a:rPr sz="1300" b="0" dirty="0">
                <a:solidFill>
                  <a:srgbClr val="6B7A74"/>
                </a:solidFill>
                <a:latin typeface="Calibri"/>
              </a:rPr>
              <a:t>PostgreSQL for analysis  ·  Power BI for the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4572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4805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4A2E02"/>
                </a:solidFill>
                <a:latin typeface="Calibri"/>
              </a:rP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A33D"/>
                </a:solidFill>
                <a:latin typeface="Calibri"/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13232"/>
            <a:ext cx="10424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0302B"/>
                </a:solidFill>
                <a:latin typeface="Calibri"/>
              </a:rPr>
              <a:t>Behind the Dashboard: SQL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5943600" cy="4114800"/>
          </a:xfrm>
          <a:prstGeom prst="roundRect">
            <a:avLst>
              <a:gd name="adj" fmla="val 3500"/>
            </a:avLst>
          </a:prstGeom>
          <a:solidFill>
            <a:srgbClr val="143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057400"/>
            <a:ext cx="5486400" cy="3657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50">
                <a:solidFill>
                  <a:srgbClr val="E8A33D"/>
                </a:solidFill>
                <a:latin typeface="Courier New"/>
              </a:rPr>
              <a:t>-- Revenue &amp; profit by meal category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6F0EC"/>
                </a:solidFill>
                <a:latin typeface="Courier New"/>
              </a:rPr>
              <a:t>SELECT m.category,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6F0EC"/>
                </a:solidFill>
                <a:latin typeface="Courier New"/>
              </a:rPr>
              <a:t>       SUM(oi.subtotal) AS revenue,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6F0EC"/>
                </a:solidFill>
                <a:latin typeface="Courier New"/>
              </a:rPr>
              <a:t>       SUM(oi.quantity * m.cost_to_make) AS cost,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6F0EC"/>
                </a:solidFill>
                <a:latin typeface="Courier New"/>
              </a:rPr>
              <a:t>       SUM(oi.subtotal -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6F0EC"/>
                </a:solidFill>
                <a:latin typeface="Courier New"/>
              </a:rPr>
              <a:t>           oi.quantity*m.cost_to_make) AS profit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6F0EC"/>
                </a:solidFill>
                <a:latin typeface="Courier New"/>
              </a:rPr>
              <a:t>FROM orders o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6F0EC"/>
                </a:solidFill>
                <a:latin typeface="Courier New"/>
              </a:rPr>
              <a:t>JOIN order_items oi ON o.order_id = oi.order_id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6F0EC"/>
                </a:solidFill>
                <a:latin typeface="Courier New"/>
              </a:rPr>
              <a:t>JOIN meals m        ON oi.meal_id = m.meal_id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6F0EC"/>
                </a:solidFill>
                <a:latin typeface="Courier New"/>
              </a:rPr>
              <a:t>WHERE o.order_status = 'delivered'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6F0EC"/>
                </a:solidFill>
                <a:latin typeface="Courier New"/>
              </a:rPr>
              <a:t>GROUP BY m.category</a:t>
            </a:r>
          </a:p>
          <a:p>
            <a:pPr>
              <a:lnSpc>
                <a:spcPct val="118000"/>
              </a:lnSpc>
            </a:pPr>
            <a:r>
              <a:rPr sz="1250">
                <a:solidFill>
                  <a:srgbClr val="E6F0EC"/>
                </a:solidFill>
                <a:latin typeface="Courier New"/>
              </a:rPr>
              <a:t>ORDER BY revenue DESC;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1783080"/>
            <a:ext cx="4343400" cy="5170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dirty="0">
                <a:solidFill>
                  <a:srgbClr val="20302B"/>
                </a:solidFill>
                <a:latin typeface="Calibri"/>
              </a:rPr>
              <a:t>Every metric on the dashboard was produced with SQL in PostgreSQL </a:t>
            </a:r>
            <a:r>
              <a:rPr lang="en-GB" sz="1500" b="0" dirty="0">
                <a:solidFill>
                  <a:srgbClr val="20302B"/>
                </a:solidFill>
                <a:latin typeface="Calibri"/>
              </a:rPr>
              <a:t>,</a:t>
            </a:r>
            <a:r>
              <a:rPr sz="1500" b="0" dirty="0">
                <a:solidFill>
                  <a:srgbClr val="20302B"/>
                </a:solidFill>
                <a:latin typeface="Calibri"/>
              </a:rPr>
              <a:t> one query per business question.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2880360"/>
            <a:ext cx="4343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A33D"/>
                </a:solidFill>
                <a:latin typeface="Calibri"/>
              </a:rPr>
              <a:t>ANALYSES RUN</a:t>
            </a:r>
          </a:p>
        </p:txBody>
      </p:sp>
      <p:sp>
        <p:nvSpPr>
          <p:cNvPr id="10" name="Oval 9"/>
          <p:cNvSpPr/>
          <p:nvPr/>
        </p:nvSpPr>
        <p:spPr>
          <a:xfrm>
            <a:off x="7114032" y="3310127"/>
            <a:ext cx="109728" cy="109728"/>
          </a:xfrm>
          <a:prstGeom prst="ellipse">
            <a:avLst/>
          </a:prstGeom>
          <a:solidFill>
            <a:srgbClr val="0E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60920" y="3246120"/>
            <a:ext cx="4069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20302B"/>
                </a:solidFill>
                <a:latin typeface="Calibri"/>
              </a:rPr>
              <a:t>Total revenue &amp; gross profit</a:t>
            </a:r>
          </a:p>
        </p:txBody>
      </p:sp>
      <p:sp>
        <p:nvSpPr>
          <p:cNvPr id="12" name="Oval 11"/>
          <p:cNvSpPr/>
          <p:nvPr/>
        </p:nvSpPr>
        <p:spPr>
          <a:xfrm>
            <a:off x="7114032" y="3694176"/>
            <a:ext cx="109728" cy="109728"/>
          </a:xfrm>
          <a:prstGeom prst="ellipse">
            <a:avLst/>
          </a:prstGeom>
          <a:solidFill>
            <a:srgbClr val="0E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60920" y="3630168"/>
            <a:ext cx="4069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20302B"/>
                </a:solidFill>
                <a:latin typeface="Calibri"/>
              </a:rPr>
              <a:t>Revenue by meal category &amp; time of day</a:t>
            </a:r>
          </a:p>
        </p:txBody>
      </p:sp>
      <p:sp>
        <p:nvSpPr>
          <p:cNvPr id="14" name="Oval 13"/>
          <p:cNvSpPr/>
          <p:nvPr/>
        </p:nvSpPr>
        <p:spPr>
          <a:xfrm>
            <a:off x="7114032" y="4078224"/>
            <a:ext cx="109728" cy="109728"/>
          </a:xfrm>
          <a:prstGeom prst="ellipse">
            <a:avLst/>
          </a:prstGeom>
          <a:solidFill>
            <a:srgbClr val="0E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60920" y="4014215"/>
            <a:ext cx="406908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dirty="0">
                <a:solidFill>
                  <a:srgbClr val="20302B"/>
                </a:solidFill>
                <a:latin typeface="Calibri"/>
              </a:rPr>
              <a:t>Active users </a:t>
            </a:r>
            <a:r>
              <a:rPr lang="en-GB" sz="1350" b="0" dirty="0">
                <a:solidFill>
                  <a:srgbClr val="20302B"/>
                </a:solidFill>
                <a:latin typeface="Calibri"/>
              </a:rPr>
              <a:t>:</a:t>
            </a:r>
            <a:r>
              <a:rPr sz="1350" b="0" dirty="0">
                <a:solidFill>
                  <a:srgbClr val="20302B"/>
                </a:solidFill>
                <a:latin typeface="Calibri"/>
              </a:rPr>
              <a:t> 3-month trend</a:t>
            </a:r>
          </a:p>
        </p:txBody>
      </p:sp>
      <p:sp>
        <p:nvSpPr>
          <p:cNvPr id="16" name="Oval 15"/>
          <p:cNvSpPr/>
          <p:nvPr/>
        </p:nvSpPr>
        <p:spPr>
          <a:xfrm>
            <a:off x="7114032" y="4462272"/>
            <a:ext cx="109728" cy="109728"/>
          </a:xfrm>
          <a:prstGeom prst="ellipse">
            <a:avLst/>
          </a:prstGeom>
          <a:solidFill>
            <a:srgbClr val="0E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60920" y="4398264"/>
            <a:ext cx="4069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20302B"/>
                </a:solidFill>
                <a:latin typeface="Calibri"/>
              </a:rPr>
              <a:t>Top 10% high-value customers</a:t>
            </a:r>
          </a:p>
        </p:txBody>
      </p:sp>
      <p:sp>
        <p:nvSpPr>
          <p:cNvPr id="18" name="Oval 17"/>
          <p:cNvSpPr/>
          <p:nvPr/>
        </p:nvSpPr>
        <p:spPr>
          <a:xfrm>
            <a:off x="7114032" y="4846320"/>
            <a:ext cx="109728" cy="109728"/>
          </a:xfrm>
          <a:prstGeom prst="ellipse">
            <a:avLst/>
          </a:prstGeom>
          <a:solidFill>
            <a:srgbClr val="0E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60920" y="4782312"/>
            <a:ext cx="4069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20302B"/>
                </a:solidFill>
                <a:latin typeface="Calibri"/>
              </a:rPr>
              <a:t>Retention rate (quarter-over-quarter)</a:t>
            </a:r>
          </a:p>
        </p:txBody>
      </p:sp>
      <p:sp>
        <p:nvSpPr>
          <p:cNvPr id="20" name="Oval 19"/>
          <p:cNvSpPr/>
          <p:nvPr/>
        </p:nvSpPr>
        <p:spPr>
          <a:xfrm>
            <a:off x="7114032" y="5230368"/>
            <a:ext cx="109728" cy="109728"/>
          </a:xfrm>
          <a:prstGeom prst="ellipse">
            <a:avLst/>
          </a:prstGeom>
          <a:solidFill>
            <a:srgbClr val="0E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60920" y="5166359"/>
            <a:ext cx="4069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20302B"/>
                </a:solidFill>
                <a:latin typeface="Calibri"/>
              </a:rPr>
              <a:t>RFM customer segmentation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86600" y="5623560"/>
            <a:ext cx="434340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23760" y="5623560"/>
            <a:ext cx="4069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E5C4A"/>
                </a:solidFill>
                <a:latin typeface="Calibri"/>
              </a:rPr>
              <a:t>PostgreSQL</a:t>
            </a:r>
            <a:r>
              <a:rPr sz="1300" b="0">
                <a:solidFill>
                  <a:srgbClr val="6B7A74"/>
                </a:solidFill>
                <a:latin typeface="Calibri"/>
              </a:rPr>
              <a:t>  →  </a:t>
            </a:r>
            <a:r>
              <a:rPr sz="1300" b="1">
                <a:solidFill>
                  <a:srgbClr val="0E5C4A"/>
                </a:solidFill>
                <a:latin typeface="Calibri"/>
              </a:rPr>
              <a:t>SQL views</a:t>
            </a:r>
            <a:r>
              <a:rPr sz="1300" b="0">
                <a:solidFill>
                  <a:srgbClr val="6B7A74"/>
                </a:solidFill>
                <a:latin typeface="Calibri"/>
              </a:rPr>
              <a:t>  →  </a:t>
            </a:r>
            <a:r>
              <a:rPr sz="1300" b="1">
                <a:solidFill>
                  <a:srgbClr val="0E5C4A"/>
                </a:solidFill>
                <a:latin typeface="Calibri"/>
              </a:rPr>
              <a:t>Power BI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5C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The Executive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78992"/>
            <a:ext cx="10515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dirty="0">
                <a:solidFill>
                  <a:srgbClr val="CFE6DE"/>
                </a:solidFill>
                <a:latin typeface="Calibri"/>
              </a:rPr>
              <a:t>One interactive page </a:t>
            </a:r>
            <a:r>
              <a:rPr lang="en-GB" sz="1400" b="0" dirty="0">
                <a:solidFill>
                  <a:srgbClr val="CFE6DE"/>
                </a:solidFill>
                <a:latin typeface="Calibri"/>
              </a:rPr>
              <a:t>:</a:t>
            </a:r>
            <a:r>
              <a:rPr sz="1400" b="0" dirty="0">
                <a:solidFill>
                  <a:srgbClr val="CFE6DE"/>
                </a:solidFill>
                <a:latin typeface="Calibri"/>
              </a:rPr>
              <a:t> revenue, customers and operations across three cities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06072" y="1490472"/>
            <a:ext cx="8779549" cy="49743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800" y="1600200"/>
            <a:ext cx="8560093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4572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4805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4A2E02"/>
                </a:solidFill>
                <a:latin typeface="Calibri"/>
              </a:rP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A33D"/>
                </a:solidFill>
                <a:latin typeface="Calibri"/>
              </a:rPr>
              <a:t>CHART 1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13232"/>
            <a:ext cx="10424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20302B"/>
                </a:solidFill>
                <a:latin typeface="Calibri"/>
              </a:rPr>
              <a:t>Total Revenue by Month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5989320" cy="4069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_revenue_mon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19" y="2256608"/>
            <a:ext cx="5486400" cy="321346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269480" y="117948"/>
            <a:ext cx="4114800" cy="1092016"/>
          </a:xfrm>
          <a:prstGeom prst="roundRect">
            <a:avLst>
              <a:gd name="adj" fmla="val 5000"/>
            </a:avLst>
          </a:prstGeom>
          <a:solidFill>
            <a:srgbClr val="0E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59285" y="237744"/>
            <a:ext cx="36576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dirty="0">
                <a:solidFill>
                  <a:srgbClr val="FFFFFF"/>
                </a:solidFill>
                <a:latin typeface="Calibri"/>
              </a:rPr>
              <a:t>$2.53M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9285" y="941832"/>
            <a:ext cx="3657600" cy="1938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en-US" sz="1250" dirty="0">
                <a:solidFill>
                  <a:srgbClr val="CFE6DE"/>
                </a:solidFill>
              </a:rPr>
              <a:t>Revenue growth accelerated significantly in Q4</a:t>
            </a:r>
            <a:endParaRPr sz="1250" b="0" dirty="0">
              <a:solidFill>
                <a:srgbClr val="CFE6DE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269480" y="1648933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dirty="0">
                <a:solidFill>
                  <a:srgbClr val="E8A33D"/>
                </a:solidFill>
                <a:latin typeface="Calibri"/>
              </a:rPr>
              <a:t>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0685" y="1972154"/>
            <a:ext cx="4114800" cy="1658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20302B"/>
                </a:solidFill>
              </a:rPr>
              <a:t>❖ Revenue increased consistently throughout the year.</a:t>
            </a:r>
          </a:p>
          <a:p>
            <a:pPr>
              <a:lnSpc>
                <a:spcPct val="110000"/>
              </a:lnSpc>
            </a:pPr>
            <a:endParaRPr lang="en-US" sz="1400" dirty="0">
              <a:solidFill>
                <a:srgbClr val="20302B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20302B"/>
                </a:solidFill>
              </a:rPr>
              <a:t>❖ </a:t>
            </a:r>
            <a:r>
              <a:rPr lang="en-US" sz="1400" b="1" dirty="0">
                <a:solidFill>
                  <a:srgbClr val="0E5C4A"/>
                </a:solidFill>
              </a:rPr>
              <a:t>November and December </a:t>
            </a:r>
            <a:r>
              <a:rPr lang="en-US" sz="1400" dirty="0">
                <a:solidFill>
                  <a:srgbClr val="20302B"/>
                </a:solidFill>
              </a:rPr>
              <a:t>generated the highest revenue, making Q4 the strongest-performing period.</a:t>
            </a:r>
          </a:p>
          <a:p>
            <a:pPr>
              <a:lnSpc>
                <a:spcPct val="110000"/>
              </a:lnSpc>
            </a:pPr>
            <a:endParaRPr lang="en-US" sz="1400" dirty="0">
              <a:solidFill>
                <a:srgbClr val="20302B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20302B"/>
                </a:solidFill>
              </a:rPr>
              <a:t>❖ The </a:t>
            </a:r>
            <a:r>
              <a:rPr lang="en-US" sz="1400" b="1" dirty="0">
                <a:solidFill>
                  <a:srgbClr val="0E5C4A"/>
                </a:solidFill>
              </a:rPr>
              <a:t>Q4 surge </a:t>
            </a:r>
            <a:r>
              <a:rPr lang="en-US" sz="1400" dirty="0">
                <a:solidFill>
                  <a:srgbClr val="20302B"/>
                </a:solidFill>
              </a:rPr>
              <a:t>indicates strong seasonal demand and higher customer purchasing activity.</a:t>
            </a:r>
            <a:endParaRPr sz="1400" b="0" dirty="0">
              <a:solidFill>
                <a:srgbClr val="20302B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230685" y="3976777"/>
            <a:ext cx="41148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dirty="0">
                <a:solidFill>
                  <a:srgbClr val="E8A33D"/>
                </a:solidFill>
                <a:latin typeface="Calibri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0685" y="4340016"/>
            <a:ext cx="4114800" cy="18959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20302B"/>
                </a:solidFill>
              </a:rPr>
              <a:t>❖ Increase inventory and operational capacity ahead of the Q4 peak period.</a:t>
            </a:r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v"/>
            </a:pPr>
            <a:endParaRPr lang="en-US" sz="1400" dirty="0">
              <a:solidFill>
                <a:srgbClr val="20302B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20302B"/>
                </a:solidFill>
              </a:rPr>
              <a:t>❖ Launch targeted marketing campaigns before year-end to maximize revenue opportunities.</a:t>
            </a:r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v"/>
            </a:pPr>
            <a:endParaRPr lang="en-US" sz="1400" dirty="0">
              <a:solidFill>
                <a:srgbClr val="20302B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20302B"/>
                </a:solidFill>
              </a:rPr>
              <a:t>❖ Analyze drivers behind November’s revenue surge and replicate successful strategies across other months.</a:t>
            </a:r>
            <a:endParaRPr sz="1400" b="0" dirty="0">
              <a:solidFill>
                <a:srgbClr val="20302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4572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4805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4A2E02"/>
                </a:solidFill>
                <a:latin typeface="Calibri"/>
              </a:rP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A33D"/>
                </a:solidFill>
                <a:latin typeface="Calibri"/>
              </a:rPr>
              <a:t>CHART 2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13232"/>
            <a:ext cx="10424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20302B"/>
                </a:solidFill>
                <a:latin typeface="Calibri"/>
              </a:rPr>
              <a:t>Food Revenue by Category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5989320" cy="4069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19" y="2310833"/>
            <a:ext cx="5486400" cy="310501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86353" y="269748"/>
            <a:ext cx="4114800" cy="1093262"/>
          </a:xfrm>
          <a:prstGeom prst="roundRect">
            <a:avLst>
              <a:gd name="adj" fmla="val 5000"/>
            </a:avLst>
          </a:prstGeom>
          <a:solidFill>
            <a:srgbClr val="0E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69480" y="228600"/>
            <a:ext cx="36576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dirty="0">
                <a:solidFill>
                  <a:srgbClr val="FFFFFF"/>
                </a:solidFill>
                <a:latin typeface="Calibri"/>
              </a:rPr>
              <a:t>$1.22M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95342" y="951530"/>
            <a:ext cx="3657600" cy="1938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en-US" sz="1250" dirty="0">
                <a:solidFill>
                  <a:srgbClr val="CFE6DE"/>
                </a:solidFill>
              </a:rPr>
              <a:t>Dinner drives nearly 50% of category revenue</a:t>
            </a:r>
            <a:endParaRPr sz="1250" b="0" dirty="0">
              <a:solidFill>
                <a:srgbClr val="CFE6DE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186353" y="177823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dirty="0">
                <a:solidFill>
                  <a:srgbClr val="E8A33D"/>
                </a:solidFill>
                <a:latin typeface="Calibri"/>
              </a:rPr>
              <a:t>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86352" y="2037912"/>
            <a:ext cx="4747029" cy="18959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20302B"/>
                </a:solidFill>
              </a:rPr>
              <a:t>❖ </a:t>
            </a:r>
            <a:r>
              <a:rPr lang="en-US" sz="1400" b="1" dirty="0">
                <a:solidFill>
                  <a:srgbClr val="0E5C4A"/>
                </a:solidFill>
              </a:rPr>
              <a:t>Dinner</a:t>
            </a:r>
            <a:r>
              <a:rPr lang="en-US" sz="1400" dirty="0">
                <a:solidFill>
                  <a:srgbClr val="20302B"/>
                </a:solidFill>
              </a:rPr>
              <a:t> generated the </a:t>
            </a:r>
            <a:r>
              <a:rPr lang="en-US" sz="1400" b="1" dirty="0">
                <a:solidFill>
                  <a:srgbClr val="0E5C4A"/>
                </a:solidFill>
              </a:rPr>
              <a:t>highest revenue </a:t>
            </a:r>
            <a:r>
              <a:rPr lang="en-US" sz="1400" dirty="0">
                <a:solidFill>
                  <a:srgbClr val="20302B"/>
                </a:solidFill>
              </a:rPr>
              <a:t>at </a:t>
            </a:r>
            <a:r>
              <a:rPr lang="en-US" sz="1400" b="1" dirty="0">
                <a:solidFill>
                  <a:srgbClr val="0E5C4A"/>
                </a:solidFill>
              </a:rPr>
              <a:t>$1.22M</a:t>
            </a:r>
            <a:r>
              <a:rPr lang="en-US" sz="1400" dirty="0">
                <a:solidFill>
                  <a:srgbClr val="20302B"/>
                </a:solidFill>
              </a:rPr>
              <a:t>, significantly outperforming all other categories.</a:t>
            </a:r>
          </a:p>
          <a:p>
            <a:pPr>
              <a:lnSpc>
                <a:spcPct val="110000"/>
              </a:lnSpc>
            </a:pPr>
            <a:endParaRPr lang="en-US" sz="1400" dirty="0">
              <a:solidFill>
                <a:srgbClr val="20302B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20302B"/>
                </a:solidFill>
              </a:rPr>
              <a:t>❖ </a:t>
            </a:r>
            <a:r>
              <a:rPr lang="en-US" sz="1400" b="1" dirty="0">
                <a:solidFill>
                  <a:srgbClr val="0E5C4A"/>
                </a:solidFill>
              </a:rPr>
              <a:t>Lunch</a:t>
            </a:r>
            <a:r>
              <a:rPr lang="en-US" sz="1400" dirty="0">
                <a:solidFill>
                  <a:srgbClr val="20302B"/>
                </a:solidFill>
              </a:rPr>
              <a:t> ranked </a:t>
            </a:r>
            <a:r>
              <a:rPr lang="en-US" sz="1400" b="1" dirty="0">
                <a:solidFill>
                  <a:srgbClr val="0E5C4A"/>
                </a:solidFill>
              </a:rPr>
              <a:t>second</a:t>
            </a:r>
            <a:r>
              <a:rPr lang="en-US" sz="1400" dirty="0">
                <a:solidFill>
                  <a:srgbClr val="20302B"/>
                </a:solidFill>
              </a:rPr>
              <a:t> at </a:t>
            </a:r>
            <a:r>
              <a:rPr lang="en-US" sz="1400" b="1" dirty="0">
                <a:solidFill>
                  <a:srgbClr val="0E5C4A"/>
                </a:solidFill>
              </a:rPr>
              <a:t>$482K</a:t>
            </a:r>
            <a:r>
              <a:rPr lang="en-US" sz="1400" dirty="0">
                <a:solidFill>
                  <a:srgbClr val="20302B"/>
                </a:solidFill>
              </a:rPr>
              <a:t>, while all remaining categories contributed significantly lower revenue.</a:t>
            </a:r>
          </a:p>
          <a:p>
            <a:pPr>
              <a:lnSpc>
                <a:spcPct val="110000"/>
              </a:lnSpc>
            </a:pPr>
            <a:endParaRPr lang="en-US" sz="1400" dirty="0">
              <a:solidFill>
                <a:srgbClr val="20302B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20302B"/>
                </a:solidFill>
              </a:rPr>
              <a:t>❖ Revenue concentration in Dinner suggests stronger customer demand during evening meal periods.</a:t>
            </a:r>
            <a:endParaRPr sz="1400" b="0" dirty="0">
              <a:solidFill>
                <a:srgbClr val="20302B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86815" y="4357394"/>
            <a:ext cx="41148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dirty="0">
                <a:solidFill>
                  <a:srgbClr val="E8A33D"/>
                </a:solidFill>
                <a:latin typeface="Calibri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86815" y="4631714"/>
            <a:ext cx="4746566" cy="18959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20302B"/>
                </a:solidFill>
              </a:rPr>
              <a:t>❖ Expand high-performing Dinner menu options to maximize revenue opportunities.</a:t>
            </a:r>
          </a:p>
          <a:p>
            <a:pPr>
              <a:lnSpc>
                <a:spcPct val="110000"/>
              </a:lnSpc>
            </a:pPr>
            <a:endParaRPr lang="en-US" sz="1400" dirty="0">
              <a:solidFill>
                <a:srgbClr val="20302B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20302B"/>
                </a:solidFill>
              </a:rPr>
              <a:t>❖ Expand partnerships with restaurants serving high-demand Dinner products to sustain revenue growth.</a:t>
            </a:r>
          </a:p>
          <a:p>
            <a:pPr>
              <a:lnSpc>
                <a:spcPct val="110000"/>
              </a:lnSpc>
            </a:pPr>
            <a:endParaRPr lang="en-US" sz="1400" dirty="0">
              <a:solidFill>
                <a:srgbClr val="20302B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20302B"/>
                </a:solidFill>
              </a:rPr>
              <a:t>❖ Introduce bundled offers and promotions to improve sales in lower-performing categories.</a:t>
            </a:r>
            <a:endParaRPr sz="1400" b="0" dirty="0">
              <a:solidFill>
                <a:srgbClr val="20302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4572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4805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4A2E02"/>
                </a:solidFill>
                <a:latin typeface="Calibri"/>
              </a:rP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A33D"/>
                </a:solidFill>
                <a:latin typeface="Calibri"/>
              </a:rPr>
              <a:t>CHART 3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13232"/>
            <a:ext cx="10424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20302B"/>
                </a:solidFill>
                <a:latin typeface="Calibri"/>
              </a:rPr>
              <a:t>Delivery Efficiency: Bulk vs Standard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5989320" cy="4069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_delivery_e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19" y="2237994"/>
            <a:ext cx="5486400" cy="325069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269479" y="242316"/>
            <a:ext cx="4114800" cy="1110996"/>
          </a:xfrm>
          <a:prstGeom prst="roundRect">
            <a:avLst>
              <a:gd name="adj" fmla="val 5000"/>
            </a:avLst>
          </a:prstGeom>
          <a:solidFill>
            <a:srgbClr val="0E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59285" y="192023"/>
            <a:ext cx="36576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dirty="0">
                <a:solidFill>
                  <a:srgbClr val="FFFFFF"/>
                </a:solidFill>
                <a:latin typeface="Calibri"/>
              </a:rPr>
              <a:t>0.2% vs 6.1%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4609" y="911456"/>
            <a:ext cx="3657600" cy="1938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en-US" sz="1250" dirty="0">
                <a:solidFill>
                  <a:srgbClr val="CFE6DE"/>
                </a:solidFill>
              </a:rPr>
              <a:t>Bulk orders are significantly more cost-efficient</a:t>
            </a:r>
            <a:endParaRPr sz="1250" b="0" dirty="0">
              <a:solidFill>
                <a:srgbClr val="CFE6DE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230685" y="1824228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dirty="0">
                <a:solidFill>
                  <a:srgbClr val="E8A33D"/>
                </a:solidFill>
                <a:latin typeface="Calibri"/>
              </a:rPr>
              <a:t>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0685" y="2060493"/>
            <a:ext cx="4841242" cy="18959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20302B"/>
                </a:solidFill>
              </a:rPr>
              <a:t>❖ </a:t>
            </a:r>
            <a:r>
              <a:rPr lang="en-US" sz="1400" b="1" dirty="0">
                <a:solidFill>
                  <a:srgbClr val="0E5C4A"/>
                </a:solidFill>
              </a:rPr>
              <a:t>Bulk</a:t>
            </a:r>
            <a:r>
              <a:rPr lang="en-US" sz="1400" dirty="0">
                <a:solidFill>
                  <a:srgbClr val="20302B"/>
                </a:solidFill>
              </a:rPr>
              <a:t> orders incur only </a:t>
            </a:r>
            <a:r>
              <a:rPr lang="en-US" sz="1400" b="1" dirty="0">
                <a:solidFill>
                  <a:srgbClr val="0E5C4A"/>
                </a:solidFill>
              </a:rPr>
              <a:t>0.2%</a:t>
            </a:r>
            <a:r>
              <a:rPr lang="en-US" sz="1400" dirty="0">
                <a:solidFill>
                  <a:srgbClr val="20302B"/>
                </a:solidFill>
              </a:rPr>
              <a:t> delivery cost relative to revenue, compared to </a:t>
            </a:r>
            <a:r>
              <a:rPr lang="en-US" sz="1400" b="1" dirty="0">
                <a:solidFill>
                  <a:srgbClr val="0E5C4A"/>
                </a:solidFill>
              </a:rPr>
              <a:t>6.1%</a:t>
            </a:r>
            <a:r>
              <a:rPr lang="en-US" sz="1400" dirty="0">
                <a:solidFill>
                  <a:srgbClr val="20302B"/>
                </a:solidFill>
              </a:rPr>
              <a:t> for </a:t>
            </a:r>
            <a:r>
              <a:rPr lang="en-US" sz="1400" b="1" dirty="0">
                <a:solidFill>
                  <a:srgbClr val="0E5C4A"/>
                </a:solidFill>
              </a:rPr>
              <a:t>standard</a:t>
            </a:r>
            <a:r>
              <a:rPr lang="en-US" sz="1400" dirty="0">
                <a:solidFill>
                  <a:srgbClr val="20302B"/>
                </a:solidFill>
              </a:rPr>
              <a:t> orders.</a:t>
            </a:r>
          </a:p>
          <a:p>
            <a:pPr>
              <a:lnSpc>
                <a:spcPct val="110000"/>
              </a:lnSpc>
            </a:pPr>
            <a:endParaRPr lang="en-US" sz="1400" dirty="0">
              <a:solidFill>
                <a:srgbClr val="20302B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20302B"/>
                </a:solidFill>
              </a:rPr>
              <a:t>❖ </a:t>
            </a:r>
            <a:r>
              <a:rPr lang="en-US" sz="1400" b="1" dirty="0">
                <a:solidFill>
                  <a:srgbClr val="0E5C4A"/>
                </a:solidFill>
              </a:rPr>
              <a:t>Standard </a:t>
            </a:r>
            <a:r>
              <a:rPr lang="en-US" sz="1400" dirty="0">
                <a:solidFill>
                  <a:srgbClr val="20302B"/>
                </a:solidFill>
              </a:rPr>
              <a:t>orders have significantly </a:t>
            </a:r>
            <a:r>
              <a:rPr lang="en-US" sz="1400" b="1" dirty="0">
                <a:solidFill>
                  <a:srgbClr val="0E5C4A"/>
                </a:solidFill>
              </a:rPr>
              <a:t>higher</a:t>
            </a:r>
            <a:r>
              <a:rPr lang="en-US" sz="1400" dirty="0">
                <a:solidFill>
                  <a:srgbClr val="20302B"/>
                </a:solidFill>
              </a:rPr>
              <a:t> delivery costs, reducing operational efficiency.</a:t>
            </a:r>
          </a:p>
          <a:p>
            <a:pPr>
              <a:lnSpc>
                <a:spcPct val="110000"/>
              </a:lnSpc>
            </a:pPr>
            <a:endParaRPr lang="en-US" sz="1400" dirty="0">
              <a:solidFill>
                <a:srgbClr val="20302B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20302B"/>
                </a:solidFill>
              </a:rPr>
              <a:t>❖ </a:t>
            </a:r>
            <a:r>
              <a:rPr lang="en-US" sz="1400" b="1" dirty="0">
                <a:solidFill>
                  <a:srgbClr val="0E5C4A"/>
                </a:solidFill>
              </a:rPr>
              <a:t>Bulk</a:t>
            </a:r>
            <a:r>
              <a:rPr lang="en-US" sz="1400" dirty="0">
                <a:solidFill>
                  <a:srgbClr val="20302B"/>
                </a:solidFill>
              </a:rPr>
              <a:t> orders generate stronger economies of scale, making them the more cost-efficient order type.</a:t>
            </a:r>
            <a:endParaRPr sz="1400" b="0" dirty="0">
              <a:solidFill>
                <a:srgbClr val="20302B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254697" y="4259030"/>
            <a:ext cx="41148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dirty="0">
                <a:solidFill>
                  <a:srgbClr val="E8A33D"/>
                </a:solidFill>
                <a:latin typeface="Calibri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54233" y="4540733"/>
            <a:ext cx="4817694" cy="18959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20302B"/>
                </a:solidFill>
              </a:rPr>
              <a:t>❖ Prioritize bulk orders as they generate higher revenue at significantly lower delivery cost.</a:t>
            </a:r>
          </a:p>
          <a:p>
            <a:pPr>
              <a:lnSpc>
                <a:spcPct val="110000"/>
              </a:lnSpc>
            </a:pPr>
            <a:endParaRPr lang="en-US" sz="1400" dirty="0">
              <a:solidFill>
                <a:srgbClr val="20302B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20302B"/>
                </a:solidFill>
              </a:rPr>
              <a:t>❖ Introduce bulk-order incentives to encourage customers toward larger purchases.</a:t>
            </a:r>
          </a:p>
          <a:p>
            <a:pPr>
              <a:lnSpc>
                <a:spcPct val="110000"/>
              </a:lnSpc>
            </a:pPr>
            <a:endParaRPr lang="en-US" sz="1400" dirty="0">
              <a:solidFill>
                <a:srgbClr val="20302B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20302B"/>
                </a:solidFill>
              </a:rPr>
              <a:t>❖ Optimize standard order delivery operations to reduce cost and improve efficiency.</a:t>
            </a:r>
            <a:endParaRPr sz="1400" b="0" dirty="0">
              <a:solidFill>
                <a:srgbClr val="20302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4572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4805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4A2E02"/>
                </a:solidFill>
                <a:latin typeface="Calibri"/>
              </a:rP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A33D"/>
                </a:solidFill>
                <a:latin typeface="Calibri"/>
              </a:rPr>
              <a:t>CHART 4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13232"/>
            <a:ext cx="10424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20302B"/>
                </a:solidFill>
                <a:latin typeface="Calibri"/>
              </a:rPr>
              <a:t>Active Customers by Month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5989320" cy="4069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_active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19" y="2152169"/>
            <a:ext cx="5486400" cy="342234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269480" y="204815"/>
            <a:ext cx="4114800" cy="986676"/>
          </a:xfrm>
          <a:prstGeom prst="roundRect">
            <a:avLst>
              <a:gd name="adj" fmla="val 5000"/>
            </a:avLst>
          </a:prstGeom>
          <a:solidFill>
            <a:srgbClr val="0E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41061" y="93264"/>
            <a:ext cx="36576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dirty="0">
                <a:solidFill>
                  <a:srgbClr val="FFFFFF"/>
                </a:solidFill>
                <a:latin typeface="Calibri"/>
              </a:rPr>
              <a:t>+23%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41061" y="724200"/>
            <a:ext cx="3657600" cy="1938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en-US" sz="1250" dirty="0">
                <a:solidFill>
                  <a:srgbClr val="CFE6DE"/>
                </a:solidFill>
              </a:rPr>
              <a:t>Customer activity surged significantly in Q4</a:t>
            </a:r>
            <a:endParaRPr sz="1250" b="0" dirty="0">
              <a:solidFill>
                <a:srgbClr val="CFE6DE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269480" y="1517627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dirty="0">
                <a:solidFill>
                  <a:srgbClr val="E8A33D"/>
                </a:solidFill>
                <a:latin typeface="Calibri"/>
              </a:rPr>
              <a:t>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63739" y="1732334"/>
            <a:ext cx="4934297" cy="18959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20302B"/>
                </a:solidFill>
              </a:rPr>
              <a:t>❖ Active customer count increased steadily throughout the year, showing overall platform growth.</a:t>
            </a:r>
          </a:p>
          <a:p>
            <a:pPr>
              <a:lnSpc>
                <a:spcPct val="110000"/>
              </a:lnSpc>
            </a:pPr>
            <a:endParaRPr lang="en-US" sz="1400" dirty="0">
              <a:solidFill>
                <a:srgbClr val="20302B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20302B"/>
                </a:solidFill>
              </a:rPr>
              <a:t>❖ Customer activity surged by approximately </a:t>
            </a:r>
            <a:r>
              <a:rPr lang="en-US" sz="1400" b="1" dirty="0">
                <a:solidFill>
                  <a:srgbClr val="0E5C4A"/>
                </a:solidFill>
              </a:rPr>
              <a:t>23%</a:t>
            </a:r>
            <a:r>
              <a:rPr lang="en-US" sz="1400" dirty="0">
                <a:solidFill>
                  <a:srgbClr val="20302B"/>
                </a:solidFill>
              </a:rPr>
              <a:t> in November and remained strong through December.</a:t>
            </a:r>
          </a:p>
          <a:p>
            <a:pPr>
              <a:lnSpc>
                <a:spcPct val="110000"/>
              </a:lnSpc>
            </a:pPr>
            <a:endParaRPr lang="en-US" sz="1400" dirty="0">
              <a:solidFill>
                <a:srgbClr val="20302B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20302B"/>
                </a:solidFill>
              </a:rPr>
              <a:t>❖ The </a:t>
            </a:r>
            <a:r>
              <a:rPr lang="en-US" sz="1400" b="1" dirty="0">
                <a:solidFill>
                  <a:srgbClr val="0E5C4A"/>
                </a:solidFill>
              </a:rPr>
              <a:t>Q4 increase </a:t>
            </a:r>
            <a:r>
              <a:rPr lang="en-US" sz="1400" dirty="0">
                <a:solidFill>
                  <a:srgbClr val="20302B"/>
                </a:solidFill>
              </a:rPr>
              <a:t>suggests successful customer acquisition efforts and stronger user engagement during year-end.</a:t>
            </a:r>
            <a:endParaRPr sz="1400" b="0" dirty="0">
              <a:solidFill>
                <a:srgbClr val="20302B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269480" y="4249258"/>
            <a:ext cx="41148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dirty="0">
                <a:solidFill>
                  <a:srgbClr val="E8A33D"/>
                </a:solidFill>
                <a:latin typeface="Calibri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63739" y="4535770"/>
            <a:ext cx="4934297" cy="18840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20302B"/>
                </a:solidFill>
              </a:rPr>
              <a:t>❖ Identify the factors that drove the November customer growth and replicate successful strategies.</a:t>
            </a:r>
          </a:p>
          <a:p>
            <a:pPr>
              <a:lnSpc>
                <a:spcPct val="110000"/>
              </a:lnSpc>
            </a:pPr>
            <a:endParaRPr lang="en-US" sz="1400" dirty="0">
              <a:solidFill>
                <a:srgbClr val="20302B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20302B"/>
                </a:solidFill>
              </a:rPr>
              <a:t>❖ Strengthen customer retention initiatives to convert new active users into repeat customers.</a:t>
            </a:r>
          </a:p>
          <a:p>
            <a:pPr>
              <a:lnSpc>
                <a:spcPct val="110000"/>
              </a:lnSpc>
            </a:pPr>
            <a:endParaRPr lang="en-US" sz="1400" dirty="0">
              <a:solidFill>
                <a:srgbClr val="20302B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20302B"/>
                </a:solidFill>
              </a:rPr>
              <a:t>❖ Increase marketing and engagement campaigns during high-growth periods to sustain user activity.</a:t>
            </a:r>
            <a:endParaRPr sz="1400" b="0" dirty="0">
              <a:solidFill>
                <a:srgbClr val="20302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4572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4805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4A2E02"/>
                </a:solidFill>
                <a:latin typeface="Calibri"/>
              </a:rP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A33D"/>
                </a:solidFill>
                <a:latin typeface="Calibri"/>
              </a:rPr>
              <a:t>CHART 5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13232"/>
            <a:ext cx="10424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20302B"/>
                </a:solidFill>
                <a:latin typeface="Calibri"/>
              </a:rPr>
              <a:t>Customers by RFM Segment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5989320" cy="4069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_rf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109" y="2080260"/>
            <a:ext cx="5309020" cy="35661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95589" y="210312"/>
            <a:ext cx="4114800" cy="1143000"/>
          </a:xfrm>
          <a:prstGeom prst="roundRect">
            <a:avLst>
              <a:gd name="adj" fmla="val 5000"/>
            </a:avLst>
          </a:prstGeom>
          <a:solidFill>
            <a:srgbClr val="0E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59533" y="164592"/>
            <a:ext cx="36576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dirty="0">
                <a:solidFill>
                  <a:srgbClr val="FFFFFF"/>
                </a:solidFill>
                <a:latin typeface="Calibri"/>
              </a:rPr>
              <a:t>445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59533" y="822960"/>
            <a:ext cx="3657600" cy="3958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en-US" sz="1250" dirty="0">
                <a:solidFill>
                  <a:srgbClr val="CFE6DE"/>
                </a:solidFill>
              </a:rPr>
              <a:t>Champion customers represent the highest-value customer segment</a:t>
            </a:r>
            <a:endParaRPr sz="1250" b="0" dirty="0">
              <a:solidFill>
                <a:srgbClr val="CFE6DE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130933" y="1497671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dirty="0">
                <a:solidFill>
                  <a:srgbClr val="E8A33D"/>
                </a:solidFill>
                <a:latin typeface="Calibri"/>
              </a:rPr>
              <a:t>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29085" y="1867417"/>
            <a:ext cx="4841241" cy="17235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400" dirty="0">
                <a:solidFill>
                  <a:srgbClr val="20302B"/>
                </a:solidFill>
              </a:rPr>
              <a:t>❖ </a:t>
            </a:r>
            <a:r>
              <a:rPr lang="en-US" sz="1400" b="1" dirty="0">
                <a:solidFill>
                  <a:srgbClr val="0E5C4A"/>
                </a:solidFill>
              </a:rPr>
              <a:t>Champion customers (445)</a:t>
            </a:r>
            <a:r>
              <a:rPr lang="en-US" sz="1400" dirty="0">
                <a:solidFill>
                  <a:srgbClr val="20302B"/>
                </a:solidFill>
              </a:rPr>
              <a:t> are the </a:t>
            </a:r>
            <a:r>
              <a:rPr lang="en-US" sz="1400" b="1" dirty="0">
                <a:solidFill>
                  <a:srgbClr val="0E5C4A"/>
                </a:solidFill>
              </a:rPr>
              <a:t>highest-value</a:t>
            </a:r>
            <a:r>
              <a:rPr lang="en-US" sz="1400" dirty="0">
                <a:solidFill>
                  <a:srgbClr val="20302B"/>
                </a:solidFill>
              </a:rPr>
              <a:t> customers and drive strong revenue contribution.  </a:t>
            </a:r>
          </a:p>
          <a:p>
            <a:endParaRPr lang="en-US" sz="1400" dirty="0">
              <a:solidFill>
                <a:srgbClr val="20302B"/>
              </a:solidFill>
            </a:endParaRPr>
          </a:p>
          <a:p>
            <a:r>
              <a:rPr lang="en-US" sz="1400" dirty="0">
                <a:solidFill>
                  <a:srgbClr val="20302B"/>
                </a:solidFill>
              </a:rPr>
              <a:t>❖ </a:t>
            </a:r>
            <a:r>
              <a:rPr lang="en-US" sz="1400" b="1" dirty="0">
                <a:solidFill>
                  <a:srgbClr val="0E5C4A"/>
                </a:solidFill>
              </a:rPr>
              <a:t>Hibernating customers (637) </a:t>
            </a:r>
            <a:r>
              <a:rPr lang="en-US" sz="1400" dirty="0">
                <a:solidFill>
                  <a:srgbClr val="20302B"/>
                </a:solidFill>
              </a:rPr>
              <a:t>form the </a:t>
            </a:r>
            <a:r>
              <a:rPr lang="en-US" sz="1400" b="1" dirty="0">
                <a:solidFill>
                  <a:srgbClr val="0E5C4A"/>
                </a:solidFill>
              </a:rPr>
              <a:t>largest segment</a:t>
            </a:r>
            <a:r>
              <a:rPr lang="en-US" sz="1400" dirty="0">
                <a:solidFill>
                  <a:srgbClr val="20302B"/>
                </a:solidFill>
              </a:rPr>
              <a:t>, showing a large inactive customer base.  </a:t>
            </a:r>
          </a:p>
          <a:p>
            <a:endParaRPr lang="en-US" sz="1400" dirty="0">
              <a:solidFill>
                <a:srgbClr val="20302B"/>
              </a:solidFill>
            </a:endParaRPr>
          </a:p>
          <a:p>
            <a:r>
              <a:rPr lang="en-US" sz="1400" dirty="0">
                <a:solidFill>
                  <a:srgbClr val="20302B"/>
                </a:solidFill>
              </a:rPr>
              <a:t>❖ </a:t>
            </a:r>
            <a:r>
              <a:rPr lang="en-US" sz="1400" b="1" dirty="0">
                <a:solidFill>
                  <a:srgbClr val="0E5C4A"/>
                </a:solidFill>
              </a:rPr>
              <a:t>High At Risk </a:t>
            </a:r>
            <a:r>
              <a:rPr lang="en-US" sz="1400" dirty="0">
                <a:solidFill>
                  <a:srgbClr val="20302B"/>
                </a:solidFill>
              </a:rPr>
              <a:t>and </a:t>
            </a:r>
            <a:r>
              <a:rPr lang="en-US" sz="1400" b="1" dirty="0">
                <a:solidFill>
                  <a:srgbClr val="0E5C4A"/>
                </a:solidFill>
              </a:rPr>
              <a:t>Needs Attention </a:t>
            </a:r>
            <a:r>
              <a:rPr lang="en-US" sz="1400" dirty="0">
                <a:solidFill>
                  <a:srgbClr val="20302B"/>
                </a:solidFill>
              </a:rPr>
              <a:t>segments indicate potential future customer churn.</a:t>
            </a:r>
            <a:endParaRPr sz="1400" b="0" dirty="0">
              <a:solidFill>
                <a:srgbClr val="20302B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25390" y="4042801"/>
            <a:ext cx="41148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dirty="0">
                <a:solidFill>
                  <a:srgbClr val="E8A33D"/>
                </a:solidFill>
                <a:latin typeface="Calibri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2428" y="4461480"/>
            <a:ext cx="4817897" cy="10772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400" dirty="0">
                <a:solidFill>
                  <a:srgbClr val="20302B"/>
                </a:solidFill>
              </a:rPr>
              <a:t>❖ Retain Champion and Loyal customers through loyalty programs and personalized rewards.  </a:t>
            </a:r>
          </a:p>
          <a:p>
            <a:endParaRPr lang="en-US" sz="1400" dirty="0">
              <a:solidFill>
                <a:srgbClr val="20302B"/>
              </a:solidFill>
            </a:endParaRPr>
          </a:p>
          <a:p>
            <a:r>
              <a:rPr lang="en-US" sz="1400" dirty="0">
                <a:solidFill>
                  <a:srgbClr val="20302B"/>
                </a:solidFill>
              </a:rPr>
              <a:t>❖ Re-engage Hibernating and At Risk customers using targeted campaigns before permanent churn.</a:t>
            </a:r>
            <a:endParaRPr sz="1400" b="0" dirty="0">
              <a:solidFill>
                <a:srgbClr val="20302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4572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4805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4A2E02"/>
                </a:solidFill>
                <a:latin typeface="Calibri"/>
              </a:rP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A33D"/>
                </a:solidFill>
                <a:latin typeface="Calibri"/>
              </a:rPr>
              <a:t>CHART 6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13232"/>
            <a:ext cx="10424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20302B"/>
                </a:solidFill>
                <a:latin typeface="Calibri"/>
              </a:rPr>
              <a:t>Retention Rate by Segment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5989320" cy="4069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_ret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19" y="2125536"/>
            <a:ext cx="5486400" cy="347560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269479" y="191099"/>
            <a:ext cx="4114800" cy="1092756"/>
          </a:xfrm>
          <a:prstGeom prst="roundRect">
            <a:avLst>
              <a:gd name="adj" fmla="val 5000"/>
            </a:avLst>
          </a:prstGeom>
          <a:solidFill>
            <a:srgbClr val="0E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60918" y="152953"/>
            <a:ext cx="36576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dirty="0">
                <a:solidFill>
                  <a:srgbClr val="FFFFFF"/>
                </a:solidFill>
                <a:latin typeface="Calibri"/>
              </a:rPr>
              <a:t>99% vs 85%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18" y="794143"/>
            <a:ext cx="3657600" cy="1938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en-US" sz="1250" dirty="0">
                <a:solidFill>
                  <a:srgbClr val="CFE6DE"/>
                </a:solidFill>
              </a:rPr>
              <a:t>Top 10% customers show significantly stronger retention</a:t>
            </a:r>
            <a:endParaRPr sz="1250" b="0" dirty="0">
              <a:solidFill>
                <a:srgbClr val="CFE6DE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269479" y="1526003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A33D"/>
                </a:solidFill>
                <a:latin typeface="Calibri"/>
              </a:rPr>
              <a:t>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79" y="1864330"/>
            <a:ext cx="4783976" cy="11849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20302B"/>
                </a:solidFill>
              </a:rPr>
              <a:t>❖ </a:t>
            </a:r>
            <a:r>
              <a:rPr lang="en-US" sz="1400" b="1" dirty="0">
                <a:solidFill>
                  <a:srgbClr val="0E5C4A"/>
                </a:solidFill>
              </a:rPr>
              <a:t>Top 10% customers </a:t>
            </a:r>
            <a:r>
              <a:rPr lang="en-US" sz="1400" dirty="0">
                <a:solidFill>
                  <a:srgbClr val="20302B"/>
                </a:solidFill>
              </a:rPr>
              <a:t>recorded a </a:t>
            </a:r>
            <a:r>
              <a:rPr lang="en-US" sz="1400" b="1" dirty="0">
                <a:solidFill>
                  <a:srgbClr val="0E5C4A"/>
                </a:solidFill>
              </a:rPr>
              <a:t>99% retention rate</a:t>
            </a:r>
            <a:r>
              <a:rPr lang="en-US" sz="1400" dirty="0">
                <a:solidFill>
                  <a:srgbClr val="20302B"/>
                </a:solidFill>
              </a:rPr>
              <a:t>, significantly higher than the </a:t>
            </a:r>
            <a:r>
              <a:rPr lang="en-US" sz="1400" b="1" dirty="0">
                <a:solidFill>
                  <a:srgbClr val="0E5C4A"/>
                </a:solidFill>
              </a:rPr>
              <a:t>85% retention rate </a:t>
            </a:r>
            <a:r>
              <a:rPr lang="en-US" sz="1400" dirty="0">
                <a:solidFill>
                  <a:srgbClr val="20302B"/>
                </a:solidFill>
              </a:rPr>
              <a:t>of the </a:t>
            </a:r>
            <a:r>
              <a:rPr lang="en-US" sz="1400" b="1" dirty="0">
                <a:solidFill>
                  <a:srgbClr val="0E5C4A"/>
                </a:solidFill>
              </a:rPr>
              <a:t>bottom 90%.  </a:t>
            </a:r>
          </a:p>
          <a:p>
            <a:pPr>
              <a:lnSpc>
                <a:spcPct val="110000"/>
              </a:lnSpc>
            </a:pPr>
            <a:endParaRPr lang="en-US" sz="1400" dirty="0">
              <a:solidFill>
                <a:srgbClr val="20302B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20302B"/>
                </a:solidFill>
              </a:rPr>
              <a:t>❖ </a:t>
            </a:r>
            <a:r>
              <a:rPr lang="en-US" sz="1400" b="1" dirty="0">
                <a:solidFill>
                  <a:srgbClr val="0E5C4A"/>
                </a:solidFill>
              </a:rPr>
              <a:t>High-value customers </a:t>
            </a:r>
            <a:r>
              <a:rPr lang="en-US" sz="1400" dirty="0">
                <a:solidFill>
                  <a:srgbClr val="20302B"/>
                </a:solidFill>
              </a:rPr>
              <a:t>show stronger loyalty and are more likely to make repeat purchases over time.</a:t>
            </a:r>
            <a:endParaRPr sz="1400" b="0" dirty="0">
              <a:solidFill>
                <a:srgbClr val="20302B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269480" y="3560288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dirty="0">
                <a:solidFill>
                  <a:srgbClr val="0E5C4A"/>
                </a:solidFill>
                <a:latin typeface="Calibri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3834608"/>
            <a:ext cx="4719320" cy="14100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</a:pPr>
            <a:endParaRPr lang="en-US" sz="1400" dirty="0">
              <a:solidFill>
                <a:srgbClr val="20302B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20302B"/>
                </a:solidFill>
              </a:rPr>
              <a:t>❖ Prioritize loyalty programs and personalized rewards for top-value customers to maintain retention.  </a:t>
            </a:r>
          </a:p>
          <a:p>
            <a:pPr>
              <a:lnSpc>
                <a:spcPct val="110000"/>
              </a:lnSpc>
            </a:pPr>
            <a:endParaRPr lang="en-US" sz="1400" dirty="0">
              <a:solidFill>
                <a:srgbClr val="20302B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20302B"/>
                </a:solidFill>
              </a:rPr>
              <a:t>❖ Improve engagement strategies for lower-value customers to increase repeat purchase behavior.</a:t>
            </a:r>
            <a:endParaRPr sz="1400" b="0" dirty="0">
              <a:solidFill>
                <a:srgbClr val="20302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5C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22960" y="54864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39496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4A2E02"/>
                </a:solidFill>
                <a:latin typeface="Calibri"/>
              </a:rP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566928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Strategic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CFE6DE"/>
                </a:solidFill>
                <a:latin typeface="Calibri"/>
              </a:rPr>
              <a:t>Swoop’s revenue is led by bulk orders and Dinner, and is concentrated in a small group of high-value Champions who also retain almost perfectly. The strategy writes itself: grow and protect that high-value, bulk-ordering base.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743200"/>
            <a:ext cx="640080" cy="64008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734056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4A2E0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761488"/>
            <a:ext cx="9418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Grow bulk ordering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3218688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CFE6DE"/>
                </a:solidFill>
                <a:latin typeface="Calibri"/>
              </a:rPr>
              <a:t>It drives the majority of revenue while costing almost nothing to deliver — 0.2% of order value versus 6% for standard.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886200"/>
            <a:ext cx="640080" cy="64008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877056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4A2E0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904487"/>
            <a:ext cx="9418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Protect the Champions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4361688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CFE6DE"/>
                </a:solidFill>
                <a:latin typeface="Calibri"/>
              </a:rPr>
              <a:t>445 customers, 46% of revenue, 99% retention — reward and retain them first.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5029200"/>
            <a:ext cx="640080" cy="64008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5020056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4A2E0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5047488"/>
            <a:ext cx="9418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Lean into Dinner &amp; Q4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5504688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CFE6DE"/>
                </a:solidFill>
                <a:latin typeface="Calibri"/>
              </a:rPr>
              <a:t>Focus menu, partners and promotions where the money already 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42255ec-e1af-44ac-b676-7700d3d39603}" enabled="1" method="Standard" siteId="{1a07c565-b111-42d0-ada8-16998c72bd3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1132</Words>
  <Application>Microsoft Office PowerPoint</Application>
  <PresentationFormat>Widescreen</PresentationFormat>
  <Paragraphs>173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Esmeralda Osei</cp:lastModifiedBy>
  <cp:revision>15</cp:revision>
  <dcterms:created xsi:type="dcterms:W3CDTF">2013-01-27T09:14:16Z</dcterms:created>
  <dcterms:modified xsi:type="dcterms:W3CDTF">2026-06-24T13:27:01Z</dcterms:modified>
  <cp:category/>
</cp:coreProperties>
</file>